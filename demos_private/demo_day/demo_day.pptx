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Calibri"/>
              </a:defRPr>
            </a:pPr>
            <a:r>
              <a:t>UMRS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007A87"/>
                </a:solidFill>
                <a:latin typeface="Calibri"/>
              </a:defRPr>
            </a:pPr>
            <a:r>
              <a:t>Unified Multimodal Retrieval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96D6"/>
                </a:solidFill>
                <a:latin typeface="Calibri"/>
              </a:defRPr>
            </a:pPr>
            <a:r>
              <a:t>Demo Day • Production Platform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754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July 20,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3035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AI4S Platform Team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91695" cy="27432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7665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UMRS Demo Day •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766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Slide 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What is UMRS?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2B5C"/>
                </a:solidFill>
                <a:latin typeface="Calibri"/>
              </a:defRPr>
            </a:pPr>
            <a:r>
              <a:t>UMRS is the production platform for:</a:t>
            </a:r>
            <a:br/>
            <a:br/>
            <a:r>
              <a:t>• Multimodal data processing</a:t>
            </a:r>
            <a:br/>
            <a:r>
              <a:t>  (text, vision, embeddings)</a:t>
            </a:r>
            <a:br/>
            <a:br/>
            <a:r>
              <a:t>• AI-powered inference pipelines</a:t>
            </a:r>
            <a:br/>
            <a:r>
              <a:t>  (LLMs, vision models, RAG)</a:t>
            </a:r>
            <a:br/>
            <a:br/>
            <a:r>
              <a:t>• HPC-integrated GPU acceleration</a:t>
            </a:r>
            <a:br/>
            <a:r>
              <a:t>  (Slurm + containers)</a:t>
            </a:r>
            <a:br/>
            <a:br/>
            <a:r>
              <a:t>• Secure, audited operations</a:t>
            </a:r>
            <a:br/>
            <a:r>
              <a:t>  (multi-tenant, RBAC)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371600"/>
            <a:ext cx="4114800" cy="2743200"/>
          </a:xfrm>
          <a:prstGeom prst="round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79" y="155448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Production Stats</a:t>
            </a:r>
            <a:br/>
            <a:br/>
            <a:r>
              <a:t>✓ 35+ system models</a:t>
            </a:r>
            <a:br/>
            <a:r>
              <a:t>✓ 5 bucket aliases</a:t>
            </a:r>
            <a:br/>
            <a:r>
              <a:t>✓ RAG service online</a:t>
            </a:r>
            <a:br/>
            <a:r>
              <a:t>✓ Workflow engine</a:t>
            </a:r>
            <a:br/>
            <a:r>
              <a:t>✓ Complete audit trail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91695" cy="27432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7665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UMRS Demo Day •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766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Slide 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Platform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2743200" cy="731520"/>
          </a:xfrm>
          <a:prstGeom prst="round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Client Layer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828800"/>
            <a:ext cx="2743200" cy="731520"/>
          </a:xfrm>
          <a:prstGeom prst="round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UMRS Server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828800"/>
            <a:ext cx="2743200" cy="73152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Storage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4114800"/>
            <a:ext cx="2743200" cy="73152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GPU Compute (Slurm)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0116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007A8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20116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002B5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035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Client: umrs-client CLI, r4 SDK  |  Server: Job orchestration, container lifecycle  |  Storage: S3/MinIO, PostgreSQL/pgvector  |  Compute: GPU via Slurm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66560"/>
            <a:ext cx="12191695" cy="27432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7665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UMRS Demo Day •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766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Slide 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Demo 1: Text Embeddings &amp;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2B5C"/>
                </a:solidFill>
                <a:latin typeface="Calibri"/>
              </a:defRPr>
            </a:pPr>
            <a:r>
              <a:t>• Create sample text files with scientific content</a:t>
            </a:r>
          </a:p>
          <a:p>
            <a:pPr>
              <a:spcAft>
                <a:spcPts val="600"/>
              </a:spcAft>
              <a:defRPr sz="1600">
                <a:solidFill>
                  <a:srgbClr val="002B5C"/>
                </a:solidFill>
                <a:latin typeface="Calibri"/>
              </a:defRPr>
            </a:pPr>
            <a:r>
              <a:t>• Upload to bucket: umrs-client data dir-upload /path/to/texts mnagaso3-text</a:t>
            </a:r>
          </a:p>
          <a:p>
            <a:pPr>
              <a:spcAft>
                <a:spcPts val="600"/>
              </a:spcAft>
              <a:defRPr sz="1600">
                <a:solidFill>
                  <a:srgbClr val="002B5C"/>
                </a:solidFill>
                <a:latin typeface="Calibri"/>
              </a:defRPr>
            </a:pPr>
            <a:r>
              <a:t>• UMRS processes files and generates embeddings</a:t>
            </a:r>
          </a:p>
          <a:p>
            <a:pPr>
              <a:spcAft>
                <a:spcPts val="600"/>
              </a:spcAft>
              <a:defRPr sz="1600">
                <a:solidFill>
                  <a:srgbClr val="002B5C"/>
                </a:solidFill>
                <a:latin typeface="Calibri"/>
              </a:defRPr>
            </a:pPr>
            <a:r>
              <a:t>• Download results: umrs-client data download mnagaso3-text /results</a:t>
            </a:r>
          </a:p>
          <a:p>
            <a:pPr>
              <a:spcAft>
                <a:spcPts val="600"/>
              </a:spcAft>
              <a:defRPr sz="1600">
                <a:solidFill>
                  <a:srgbClr val="002B5C"/>
                </a:solidFill>
                <a:latin typeface="Calibri"/>
              </a:defRPr>
            </a:pPr>
            <a:r>
              <a:t>• RAG pipeline enables semantic search over uploaded documents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371600"/>
            <a:ext cx="4114800" cy="45720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79" y="155448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FF00"/>
                </a:solidFill>
                <a:latin typeface="Consolas"/>
              </a:defRPr>
            </a:pPr>
            <a:r>
              <a:t>$ mkdir -p /tmp/rag-texts</a:t>
            </a:r>
            <a:br/>
            <a:r>
              <a:t>$ echo 'RAG enables...'</a:t>
            </a:r>
            <a:br/>
            <a:r>
              <a:t>  &gt; /tmp/rag-texts/doc.txt</a:t>
            </a:r>
            <a:br/>
            <a:br/>
            <a:r>
              <a:t>$ umrs-client data</a:t>
            </a:r>
            <a:br/>
            <a:r>
              <a:t>  dir-upload /tmp/rag-texts</a:t>
            </a:r>
            <a:br/>
            <a:r>
              <a:t>  mnagaso3-text</a:t>
            </a:r>
            <a:br/>
            <a:br/>
            <a:r>
              <a:t>Processing file 'doc.txt'...</a:t>
            </a:r>
            <a:br/>
            <a:r>
              <a:t>status=ok</a:t>
            </a:r>
            <a:br/>
            <a:br/>
            <a:r>
              <a:t>$ umrs-client data</a:t>
            </a:r>
            <a:br/>
            <a:r>
              <a:t>  download mnagaso3-text</a:t>
            </a:r>
            <a:br/>
            <a:r>
              <a:t>  /results</a:t>
            </a:r>
            <a:br/>
            <a:br/>
            <a:r>
              <a:t>✓ Downloaded 2 files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91695" cy="27432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7665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UMRS Demo Day •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766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Slide 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Demo 2: SAM3.1 Image Segmentation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2B5C"/>
                </a:solidFill>
                <a:latin typeface="Calibri"/>
              </a:defRPr>
            </a:pPr>
            <a:r>
              <a:t>• Upload images to segmentation bucket</a:t>
            </a:r>
          </a:p>
          <a:p>
            <a:pPr>
              <a:spcAft>
                <a:spcPts val="600"/>
              </a:spcAft>
              <a:defRPr sz="1600">
                <a:solidFill>
                  <a:srgbClr val="002B5C"/>
                </a:solidFill>
                <a:latin typeface="Calibri"/>
              </a:defRPr>
            </a:pPr>
            <a:r>
              <a:t>• Server dispatches images to GPU node via Slurm</a:t>
            </a:r>
          </a:p>
          <a:p>
            <a:pPr>
              <a:spcAft>
                <a:spcPts val="600"/>
              </a:spcAft>
              <a:defRPr sz="1600">
                <a:solidFill>
                  <a:srgbClr val="002B5C"/>
                </a:solidFill>
                <a:latin typeface="Calibri"/>
              </a:defRPr>
            </a:pPr>
            <a:r>
              <a:t>• SAM3 model generates bounding boxes &amp; masks</a:t>
            </a:r>
          </a:p>
          <a:p>
            <a:pPr>
              <a:spcAft>
                <a:spcPts val="600"/>
              </a:spcAft>
              <a:defRPr sz="1600">
                <a:solidFill>
                  <a:srgbClr val="002B5C"/>
                </a:solidFill>
                <a:latin typeface="Calibri"/>
              </a:defRPr>
            </a:pPr>
            <a:r>
              <a:t>• Download segmentation results with overlays</a:t>
            </a:r>
          </a:p>
          <a:p>
            <a:pPr>
              <a:spcAft>
                <a:spcPts val="600"/>
              </a:spcAft>
              <a:defRPr sz="1600">
                <a:solidFill>
                  <a:srgbClr val="002B5C"/>
                </a:solidFill>
                <a:latin typeface="Calibri"/>
              </a:defRPr>
            </a:pPr>
            <a:r>
              <a:t>• Results include: masks, scores, metadata JSON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371600"/>
            <a:ext cx="4114800" cy="45720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79" y="155448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FF00"/>
                </a:solidFill>
                <a:latin typeface="Consolas"/>
              </a:defRPr>
            </a:pPr>
            <a:r>
              <a:t>$ umrs-client data</a:t>
            </a:r>
            <a:br/>
            <a:r>
              <a:t>  dir-upload /images</a:t>
            </a:r>
            <a:br/>
            <a:r>
              <a:t>  demo-defect</a:t>
            </a:r>
            <a:br/>
            <a:br/>
            <a:r>
              <a:t>Processing Cat_1.jpg...</a:t>
            </a:r>
            <a:br/>
            <a:r>
              <a:t>Processing Dog_1.jpg...</a:t>
            </a:r>
            <a:br/>
            <a:r>
              <a:t>status=ok</a:t>
            </a:r>
            <a:br/>
            <a:br/>
            <a:r>
              <a:t>$ umrs-client data</a:t>
            </a:r>
            <a:br/>
            <a:r>
              <a:t>  download demo-defect</a:t>
            </a:r>
            <a:br/>
            <a:r>
              <a:t>  /segmentation</a:t>
            </a:r>
            <a:br/>
            <a:br/>
            <a:r>
              <a:t>✓ Downloaded 5 files:</a:t>
            </a:r>
            <a:br/>
            <a:r>
              <a:t>  • overlay_Cat_1.png</a:t>
            </a:r>
            <a:br/>
            <a:r>
              <a:t>  • overlay_Dog_1.png</a:t>
            </a:r>
            <a:br/>
            <a:r>
              <a:t>  • masks/*.json</a:t>
            </a:r>
            <a:br/>
            <a:r>
              <a:t>  • metadata/*.json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91695" cy="27432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7665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UMRS Demo Day •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766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Slide 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Demo 3: HMAE Inference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2B5C"/>
                </a:solidFill>
                <a:latin typeface="Calibri"/>
              </a:defRPr>
            </a:pPr>
            <a:r>
              <a:t>• HMAE reconstructs volume slices from projections</a:t>
            </a:r>
          </a:p>
          <a:p>
            <a:pPr>
              <a:spcAft>
                <a:spcPts val="600"/>
              </a:spcAft>
              <a:defRPr sz="1600">
                <a:solidFill>
                  <a:srgbClr val="002B5C"/>
                </a:solidFill>
                <a:latin typeface="Calibri"/>
              </a:defRPr>
            </a:pPr>
            <a:r>
              <a:t>• Requires GPU node with HMAE model checkpoint</a:t>
            </a:r>
          </a:p>
          <a:p>
            <a:pPr>
              <a:spcAft>
                <a:spcPts val="600"/>
              </a:spcAft>
              <a:defRPr sz="1600">
                <a:solidFill>
                  <a:srgbClr val="002B5C"/>
                </a:solidFill>
                <a:latin typeface="Calibri"/>
              </a:defRPr>
            </a:pPr>
            <a:r>
              <a:t>• Upload volume slices to HMAE bucket</a:t>
            </a:r>
          </a:p>
          <a:p>
            <a:pPr>
              <a:spcAft>
                <a:spcPts val="600"/>
              </a:spcAft>
              <a:defRPr sz="1600">
                <a:solidFill>
                  <a:srgbClr val="002B5C"/>
                </a:solidFill>
                <a:latin typeface="Calibri"/>
              </a:defRPr>
            </a:pPr>
            <a:r>
              <a:t>• HMAE processes images with reconstruction task</a:t>
            </a:r>
          </a:p>
          <a:p>
            <a:pPr>
              <a:spcAft>
                <a:spcPts val="600"/>
              </a:spcAft>
              <a:defRPr sz="1600">
                <a:solidFill>
                  <a:srgbClr val="002B5C"/>
                </a:solidFill>
                <a:latin typeface="Calibri"/>
              </a:defRPr>
            </a:pPr>
            <a:r>
              <a:t>• Download reconstructed images &amp; metadata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371600"/>
            <a:ext cx="4114800" cy="45720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79" y="155448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FF00"/>
                </a:solidFill>
                <a:latin typeface="Consolas"/>
              </a:defRPr>
            </a:pPr>
            <a:r>
              <a:t>$ umrs-client data</a:t>
            </a:r>
            <a:br/>
            <a:r>
              <a:t>  dir-upload /slices</a:t>
            </a:r>
            <a:br/>
            <a:r>
              <a:t>  demo-hmae</a:t>
            </a:r>
            <a:br/>
            <a:br/>
            <a:r>
              <a:t>Processing slice_001.png...</a:t>
            </a:r>
            <a:br/>
            <a:r>
              <a:t>  → Submitting to HMAE service</a:t>
            </a:r>
            <a:br/>
            <a:r>
              <a:t>Processing slice_002.png...</a:t>
            </a:r>
            <a:br/>
            <a:r>
              <a:t>  → Submitting to HMAE service</a:t>
            </a:r>
            <a:br/>
            <a:r>
              <a:t>status=ok</a:t>
            </a:r>
            <a:br/>
            <a:br/>
            <a:r>
              <a:t>$ umrs-client data</a:t>
            </a:r>
            <a:br/>
            <a:r>
              <a:t>  download demo-hmae</a:t>
            </a:r>
            <a:br/>
            <a:r>
              <a:t>  /reconstructions</a:t>
            </a:r>
            <a:br/>
            <a:br/>
            <a:r>
              <a:t>✓ Downloaded 20 files:</a:t>
            </a:r>
            <a:br/>
            <a:r>
              <a:t>  • reconstructed/*.png</a:t>
            </a:r>
            <a:br/>
            <a:r>
              <a:t>  • metadata/*.json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91695" cy="27432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7665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UMRS Demo Day •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766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Slide 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Advanced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029200" cy="1828800"/>
          </a:xfrm>
          <a:prstGeom prst="round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A87"/>
                </a:solidFill>
                <a:latin typeface="Calibri"/>
              </a:defRPr>
            </a:pPr>
            <a:r>
              <a:t>Workflow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Multi-step pipelines with</a:t>
            </a:r>
            <a:br/>
            <a:r>
              <a:t>DAG execution &amp; GPU support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5029200" cy="1828800"/>
          </a:xfrm>
          <a:prstGeom prst="round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5544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A87"/>
                </a:solidFill>
                <a:latin typeface="Calibri"/>
              </a:defRPr>
            </a:pPr>
            <a:r>
              <a:t>RAG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1945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Semantic search with</a:t>
            </a:r>
            <a:br/>
            <a:r>
              <a:t>PostgreSQL + pgvector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657600"/>
            <a:ext cx="5029200" cy="1828800"/>
          </a:xfrm>
          <a:prstGeom prst="round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8404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A87"/>
                </a:solidFill>
                <a:latin typeface="Calibri"/>
              </a:defRPr>
            </a:pPr>
            <a:r>
              <a:t>Model Registry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805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Versioned models with</a:t>
            </a:r>
            <a:br/>
            <a:r>
              <a:t>scope: system/project/user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657600"/>
            <a:ext cx="5029200" cy="1828800"/>
          </a:xfrm>
          <a:prstGeom prst="round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38404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A87"/>
                </a:solidFill>
                <a:latin typeface="Calibri"/>
              </a:defRPr>
            </a:pPr>
            <a:r>
              <a:t>Doctor Mode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44805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Auto-diagnosis with</a:t>
            </a:r>
            <a:br/>
            <a:r>
              <a:t>8 health checks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766560"/>
            <a:ext cx="12191695" cy="27432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7665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UMRS Demo Day • 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6766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Slide 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Demo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Calibri"/>
              </a:defRPr>
            </a:pPr>
            <a:r>
              <a:t>Feature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371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Calibri"/>
              </a:defRPr>
            </a:pPr>
            <a:r>
              <a:t>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371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Calibri"/>
              </a:defRPr>
            </a:pPr>
            <a:r>
              <a:t>Details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2011680"/>
            <a:ext cx="2286000" cy="36576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20299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✓ Online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Server Connectivity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011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data0.ai.r-ccs.riken.jp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2560320"/>
            <a:ext cx="2286000" cy="36576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57860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✓ Operational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560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S3/MinIO Storage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5603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6 buckets configured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3108960"/>
            <a:ext cx="2286000" cy="36576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312724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✓ 35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108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System Models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31089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5 embeddings, 3 vision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3657600"/>
            <a:ext cx="2286000" cy="36576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367588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✓ Available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657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RAG Service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3657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PostgreSQL + pgvector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4206240"/>
            <a:ext cx="2286000" cy="36576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422452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✓ Operational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2062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Workflow Engine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42062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Multi-step DAG execution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0" y="4754880"/>
            <a:ext cx="2286000" cy="36576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0" y="47731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✓ Responsive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754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Job System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4754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Slurm integration active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0" y="5303520"/>
            <a:ext cx="2286000" cy="36576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63440" y="532180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✓ Working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303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Doctor Mode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53035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8 health checks pass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766560"/>
            <a:ext cx="12191695" cy="27432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7665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UMRS Demo Day • Confidential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6766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Slide 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Security &amp;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2B5C"/>
                </a:solidFill>
                <a:latin typeface="Calibri"/>
              </a:defRPr>
            </a:pPr>
            <a:r>
              <a:t>🔒 JWT-based authentication with role-based access control</a:t>
            </a:r>
          </a:p>
          <a:p>
            <a:pPr>
              <a:spcAft>
                <a:spcPts val="600"/>
              </a:spcAft>
              <a:defRPr sz="1600">
                <a:solidFill>
                  <a:srgbClr val="002B5C"/>
                </a:solidFill>
                <a:latin typeface="Calibri"/>
              </a:defRPr>
            </a:pPr>
            <a:r>
              <a:t>🔒 S3 presigned URLs — time-limited, unguessable, auditable</a:t>
            </a:r>
          </a:p>
          <a:p>
            <a:pPr>
              <a:spcAft>
                <a:spcPts val="600"/>
              </a:spcAft>
              <a:defRPr sz="1600">
                <a:solidFill>
                  <a:srgbClr val="002B5C"/>
                </a:solidFill>
                <a:latin typeface="Calibri"/>
              </a:defRPr>
            </a:pPr>
            <a:r>
              <a:t>🔒 Bucket alias system — isolated data per user/project</a:t>
            </a:r>
          </a:p>
          <a:p>
            <a:pPr>
              <a:spcAft>
                <a:spcPts val="600"/>
              </a:spcAft>
              <a:defRPr sz="1600">
                <a:solidFill>
                  <a:srgbClr val="002B5C"/>
                </a:solidFill>
                <a:latin typeface="Calibri"/>
              </a:defRPr>
            </a:pPr>
            <a:r>
              <a:t>🔒 Model scopes (system/project/user) — granular access control</a:t>
            </a:r>
          </a:p>
          <a:p>
            <a:pPr>
              <a:spcAft>
                <a:spcPts val="600"/>
              </a:spcAft>
              <a:defRPr sz="1600">
                <a:solidFill>
                  <a:srgbClr val="002B5C"/>
                </a:solidFill>
                <a:latin typeface="Calibri"/>
              </a:defRPr>
            </a:pPr>
            <a:r>
              <a:t>🔒 RAG content scanning — automatic PII/credential detection</a:t>
            </a:r>
          </a:p>
          <a:p>
            <a:pPr>
              <a:spcAft>
                <a:spcPts val="600"/>
              </a:spcAft>
              <a:defRPr sz="1600">
                <a:solidFill>
                  <a:srgbClr val="002B5C"/>
                </a:solidFill>
                <a:latin typeface="Calibri"/>
              </a:defRPr>
            </a:pPr>
            <a:r>
              <a:t>🔒 EgressGuard — MCP network access with domain allowlisting</a:t>
            </a:r>
          </a:p>
          <a:p>
            <a:pPr>
              <a:spcAft>
                <a:spcPts val="600"/>
              </a:spcAft>
              <a:defRPr sz="1600">
                <a:solidFill>
                  <a:srgbClr val="002B5C"/>
                </a:solidFill>
                <a:latin typeface="Calibri"/>
              </a:defRPr>
            </a:pPr>
            <a:r>
              <a:t>🔒 Complete audit trail — every action logged &amp; searchable</a:t>
            </a:r>
          </a:p>
          <a:p>
            <a:pPr>
              <a:spcAft>
                <a:spcPts val="600"/>
              </a:spcAft>
              <a:defRPr sz="1600">
                <a:solidFill>
                  <a:srgbClr val="002B5C"/>
                </a:solidFill>
                <a:latin typeface="Calibri"/>
              </a:defRPr>
            </a:pPr>
            <a:r>
              <a:t>🔒 No model downloads inside inference containers</a:t>
            </a:r>
          </a:p>
          <a:p>
            <a:pPr>
              <a:spcAft>
                <a:spcPts val="600"/>
              </a:spcAft>
              <a:defRPr sz="1600">
                <a:solidFill>
                  <a:srgbClr val="002B5C"/>
                </a:solidFill>
                <a:latin typeface="Calibri"/>
              </a:defRPr>
            </a:pPr>
            <a:r>
              <a:t>🔒 HTTP-only internal network — no SSL between components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91695" cy="27432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7665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UMRS Demo Day •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766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Slide 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2004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007A87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UMRS Platform • Production Ready</a:t>
            </a:r>
            <a:br/>
            <a:r>
              <a:t>Unified Multimodal Retrieval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91695" cy="27432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7665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UMRS Demo Day •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766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Slide 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